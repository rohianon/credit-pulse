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19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0D9488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0" y="457200"/>
            <a:ext cx="3200400" cy="3200400"/>
          </a:xfrm>
          <a:prstGeom prst="ellipse">
            <a:avLst/>
          </a:prstGeom>
          <a:solidFill>
            <a:srgbClr val="0D9488">
              <a:alpha val="10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0" y="1097280"/>
            <a:ext cx="2286000" cy="2286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5EEAD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0972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CREDITPULSE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 Transaction Intelligence for Smarter Lending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Assignment | Pezesha Africa Limited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108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February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SUMMARY: 61 BORROWERS, 105K TRANSACTIONS, 26% DEFAULT RATE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18745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051560"/>
            <a:ext cx="1874520" cy="7315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234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051560"/>
            <a:ext cx="18745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2651760" y="1051560"/>
            <a:ext cx="1874520" cy="7315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651760" y="1234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105,854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651760" y="1874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18745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754880" y="1051560"/>
            <a:ext cx="1874520" cy="7315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754880" y="1234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26.2%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54880" y="1874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1051560"/>
            <a:ext cx="18745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6858000" y="1051560"/>
            <a:ext cx="1874520" cy="7315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858000" y="1234440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0.761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858000" y="18745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2743200"/>
            <a:ext cx="80467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548640" y="2743200"/>
            <a:ext cx="73152" cy="20116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14400" y="2880360"/>
            <a:ext cx="74980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F172A"/>
                </a:solidFill>
              </a:rPr>
              <a:t>Key Findings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All 7 repeat borrowers (100%) defaulted — the strongest risk signal in the dataset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Betting activity correlates with default: 13.0% of transactions for defaulters vs 8.9% for repayers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Random Forest model achieves CV AUC-ROC of 0.627 using 22 M-Pesa features with class-weight balancing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</a:rPr>
              <a:t>Inflow/outflow ratio and average sent amounts are key behavioral predictors of creditworthiness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EXPLORATION: 100% OF REPEAT BORROWERS DEFAULTED</a:t>
            </a:r>
            <a:endParaRPr lang="en-US" sz="2200" dirty="0"/>
          </a:p>
        </p:txBody>
      </p:sp>
      <p:pic>
        <p:nvPicPr>
          <p:cNvPr id="5" name="Image 0" descr="/home/claude/chart1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8595360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3794760"/>
            <a:ext cx="8229600" cy="10972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457200" y="3794760"/>
            <a:ext cx="64008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40080" y="384048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  Insight: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73.8% of borrowers fully repaid their loans. Repeat borrowers show a concerning 100% default rate in this sample — suggesting potential over-indebtedness. The repayment ratio distribution reveals a bimodal pattern: borrowers either repay in full or barely repay at all.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BEHAVIORAL PATTERNS: DEFAULTERS BET 46% MORE THAN REPAYERS</a:t>
            </a:r>
            <a:endParaRPr lang="en-US" sz="2200" dirty="0"/>
          </a:p>
        </p:txBody>
      </p:sp>
      <p:pic>
        <p:nvPicPr>
          <p:cNvPr id="4" name="Image 0" descr="/home/claude/chart2_behavi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8595360" cy="2743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749040"/>
            <a:ext cx="3931920" cy="1097280"/>
          </a:xfrm>
          <a:prstGeom prst="rect">
            <a:avLst/>
          </a:prstGeom>
          <a:solidFill>
            <a:srgbClr val="FFF7E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457200" y="3749040"/>
            <a:ext cx="64008" cy="1097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40080" y="38404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  Betting as Risk Signal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 Defaulters spend 13.0% on betting vs 8.9% for repayers — a 46% higher engagement rate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3749040"/>
            <a:ext cx="3931920" cy="109728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4754880" y="3749040"/>
            <a:ext cx="64008" cy="109728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937760" y="384048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  Balance &amp; Cash Flow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  Higher inflow/outflow ratios and higher avg balances correlate with better repayment behavior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TRANSACTION ANALYSIS: 22 FEATURES ENGINEERED FROM 6 CATEGORIES</a:t>
            </a:r>
            <a:endParaRPr lang="en-US" sz="2200" dirty="0"/>
          </a:p>
        </p:txBody>
      </p:sp>
      <p:pic>
        <p:nvPicPr>
          <p:cNvPr id="4" name="Image 0" descr="/home/claude/chart3_catego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777240"/>
            <a:ext cx="859536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  Feature Engineering: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Transaction categories were engineered into ratio-based features (betting_ratio, airtime_count, deposit_frequency) to capture spending behavior patterns predictive of default risk.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CREDIT SCORING MODEL: AUC 0.761, 88.5% ACCURACY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0233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868680"/>
            <a:ext cx="4023360" cy="6400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40080" y="100584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F172A"/>
                </a:solidFill>
              </a:rPr>
              <a:t>Modeling Approach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Algorithm: Random Forest (Tuned)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Validation: 5-Fold Stratified Cross-Validation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Features: 10 selected from 22 via SelectKBest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Class balance: 74% repaid / 26% defaulted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Calibrated: CalibratedClassifierCV(sigmoid)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754880" y="868680"/>
            <a:ext cx="3931920" cy="6400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937760" y="1005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0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0.761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0" y="1737360"/>
            <a:ext cx="3383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029200" y="176479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0" y="17647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88.5%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029200" y="2084832"/>
            <a:ext cx="3383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29200" y="21122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21122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0.93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029200" y="2432304"/>
            <a:ext cx="3383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029200" y="24597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132320" y="24597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0.78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0" y="2779776"/>
            <a:ext cx="3383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029200" y="2807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0" y="28072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0.82</a:t>
            </a:r>
            <a:endParaRPr lang="en-US" sz="1400" dirty="0"/>
          </a:p>
        </p:txBody>
      </p:sp>
      <p:pic>
        <p:nvPicPr>
          <p:cNvPr id="25" name="Image 0" descr="/home/claude/chart4_mod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3383280"/>
            <a:ext cx="6400800" cy="1691640"/>
          </a:xfrm>
          <a:prstGeom prst="rect">
            <a:avLst/>
          </a:prstGeom>
        </p:spPr>
      </p:pic>
      <p:pic>
        <p:nvPicPr>
          <p:cNvPr id="26" name="Image 1" descr="/home/claude/chart5_confu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246120"/>
            <a:ext cx="246888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LIMITATIONS: N=61 CONSTRAINS GENERALIZABILITY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914400"/>
            <a:ext cx="64008" cy="1188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960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&amp; Limitations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2344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Positional mapping between M-Pesa and loan datasets assumed due to different ID schemes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Small sample (n=61) limits statistical power and generalizability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Single loan per borrower — no longitudinal credit behavior captured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M-Pesa statement completeness not verified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8229600" cy="11887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57200" y="2286000"/>
            <a:ext cx="64008" cy="1188720"/>
          </a:xfrm>
          <a:prstGeom prst="rect">
            <a:avLst/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31520" y="2331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Sources of Bias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Survivorship bias: only approved borrowers observed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Selection bias in repeat borrowers (all 7 defaulted)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Temporal bias: loans from 2017–2019 may not reflect current behavior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Feature leakage risk from loan amount correlation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8229600" cy="11887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57200" y="3657600"/>
            <a:ext cx="64008" cy="11887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31520" y="3703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Strategies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977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Larger dataset (1,000+ borrowers) for robust validation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SMOTE or class-weighted models for imbalance handling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Time-series features: trend in balances, seasonal spending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</a:rPr>
              <a:t>Ensemble stacking and larger dataset for stronger AUC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</a:defRPr>
            </a:pPr>
            <a:r>
              <a:rPr sz="2200" b="1">
                <a:solidFill>
                  <a:srgbClr val="0F172A"/>
                </a:solidFill>
              </a:rPr>
              <a:t>MODEL FINETUNING: AUC 0.627 → 0.761 (+21%)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868680"/>
            <a:ext cx="4023360" cy="1554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868680"/>
            <a:ext cx="402336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rPr sz="1400" b="1">
                <a:solidFill>
                  <a:srgbClr val="0F172A"/>
                </a:solidFill>
              </a:rPr>
              <a:t>Performance Comparison (CV AUC-ROC)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76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</a:defRPr>
            </a:pPr>
            <a:r>
              <a:rPr sz="1000" b="1">
                <a:solidFill>
                  <a:srgbClr val="64748B"/>
                </a:solidFill>
              </a:rPr>
              <a:t>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2760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</a:defRPr>
            </a:pPr>
            <a:r>
              <a:rPr sz="1000" b="1">
                <a:solidFill>
                  <a:srgbClr val="64748B"/>
                </a:solidFill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2760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</a:defRPr>
            </a:pPr>
            <a:r>
              <a:rPr sz="1000" b="1">
                <a:solidFill>
                  <a:srgbClr val="64748B"/>
                </a:solidFill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2760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4748B"/>
                </a:solidFill>
              </a:defRPr>
            </a:pPr>
            <a:r>
              <a:rPr sz="1000" b="1">
                <a:solidFill>
                  <a:srgbClr val="64748B"/>
                </a:solidFill>
              </a:rPr>
              <a:t>Delta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570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</a:defRPr>
            </a:pPr>
            <a:r>
              <a:rPr sz="1100" b="0">
                <a:solidFill>
                  <a:srgbClr val="1E293B"/>
                </a:solidFill>
              </a:rPr>
              <a:t>Random Forest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15700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rPr sz="1100" b="0">
                <a:solidFill>
                  <a:srgbClr val="64748B"/>
                </a:solidFill>
              </a:rPr>
              <a:t>0.627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5700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0.761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5700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</a:defRPr>
            </a:pPr>
            <a:r>
              <a:rPr sz="1100" b="1">
                <a:solidFill>
                  <a:srgbClr val="22C55E"/>
                </a:solidFill>
              </a:rPr>
              <a:t>+0.134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1810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</a:defRPr>
            </a:pPr>
            <a:r>
              <a:rPr sz="1100" b="0">
                <a:solidFill>
                  <a:srgbClr val="1E293B"/>
                </a:solidFill>
              </a:rPr>
              <a:t>Gradient Boosting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18100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rPr sz="1100" b="0">
                <a:solidFill>
                  <a:srgbClr val="64748B"/>
                </a:solidFill>
              </a:rPr>
              <a:t>0.496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18100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0.722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18100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</a:defRPr>
            </a:pPr>
            <a:r>
              <a:rPr sz="1100" b="1">
                <a:solidFill>
                  <a:srgbClr val="22C55E"/>
                </a:solidFill>
              </a:rPr>
              <a:t>+0.226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050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</a:defRPr>
            </a:pPr>
            <a:r>
              <a:rPr sz="1100" b="0">
                <a:solidFill>
                  <a:srgbClr val="1E293B"/>
                </a:solidFill>
              </a:rPr>
              <a:t>Logistic Regression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20500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rPr sz="1100" b="0">
                <a:solidFill>
                  <a:srgbClr val="64748B"/>
                </a:solidFill>
              </a:rPr>
              <a:t>0.576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0500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0.712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0500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C55E"/>
                </a:solidFill>
              </a:defRPr>
            </a:pPr>
            <a:r>
              <a:rPr sz="1100" b="1">
                <a:solidFill>
                  <a:srgbClr val="22C55E"/>
                </a:solidFill>
              </a:rPr>
              <a:t>+0.136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2290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293B"/>
                </a:solidFill>
              </a:defRPr>
            </a:pPr>
            <a:r>
              <a:rPr sz="1100" b="0">
                <a:solidFill>
                  <a:srgbClr val="1E293B"/>
                </a:solidFill>
              </a:rPr>
              <a:t>Stacking Ensemble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22900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</a:defRPr>
            </a:pPr>
            <a:r>
              <a:rPr sz="1100" b="0">
                <a:solidFill>
                  <a:srgbClr val="64748B"/>
                </a:solidFill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22900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0.688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2290000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D9488"/>
                </a:solidFill>
              </a:defRPr>
            </a:pPr>
            <a:r>
              <a:rPr sz="1100" b="1">
                <a:solidFill>
                  <a:srgbClr val="0D9488"/>
                </a:solidFill>
              </a:rPr>
              <a:t>new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0" y="868680"/>
            <a:ext cx="3931920" cy="15544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754880" y="868680"/>
            <a:ext cx="393192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937760" y="96012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</a:defRPr>
            </a:pPr>
            <a:r>
              <a:rPr sz="1400" b="1">
                <a:solidFill>
                  <a:srgbClr val="0F172A"/>
                </a:solidFill>
              </a:rPr>
              <a:t>Techniques Applied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1280160"/>
            <a:ext cx="3566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rPr sz="1100" b="0">
                <a:solidFill>
                  <a:srgbClr val="1E293B"/>
                </a:solidFill>
              </a:rPr>
              <a:t>Feature Selection (22 → 10 features)</a:t>
            </a:r>
          </a:p>
          <a:p>
            <a:pPr>
              <a:spcBef>
                <a:spcPts val="400"/>
              </a:spcBef>
              <a:defRPr sz="1100" b="0">
                <a:solidFill>
                  <a:srgbClr val="1E293B"/>
                </a:solidFill>
              </a:defRPr>
            </a:pPr>
            <a:r>
              <a:rPr sz="1100" b="0">
                <a:solidFill>
                  <a:srgbClr val="1E293B"/>
                </a:solidFill>
              </a:rPr>
              <a:t>RandomizedSearchCV (50 iter, 5×10 CV)</a:t>
            </a:r>
          </a:p>
          <a:p>
            <a:pPr>
              <a:spcBef>
                <a:spcPts val="400"/>
              </a:spcBef>
              <a:defRPr sz="1100" b="0">
                <a:solidFill>
                  <a:srgbClr val="1E293B"/>
                </a:solidFill>
              </a:defRPr>
            </a:pPr>
            <a:r>
              <a:rPr sz="1100" b="0">
                <a:solidFill>
                  <a:srgbClr val="1E293B"/>
                </a:solidFill>
              </a:rPr>
              <a:t>SMOTE vs class_weight comparison</a:t>
            </a:r>
          </a:p>
          <a:p>
            <a:pPr>
              <a:spcBef>
                <a:spcPts val="400"/>
              </a:spcBef>
              <a:defRPr sz="1100" b="0">
                <a:solidFill>
                  <a:srgbClr val="1E293B"/>
                </a:solidFill>
              </a:defRPr>
            </a:pPr>
            <a:r>
              <a:rPr sz="1100" b="0">
                <a:solidFill>
                  <a:srgbClr val="1E293B"/>
                </a:solidFill>
              </a:rPr>
              <a:t>Stacking ensemble (3 models + LR meta)</a:t>
            </a:r>
          </a:p>
          <a:p>
            <a:pPr>
              <a:spcBef>
                <a:spcPts val="400"/>
              </a:spcBef>
              <a:defRPr sz="1100" b="0">
                <a:solidFill>
                  <a:srgbClr val="1E293B"/>
                </a:solidFill>
              </a:defRPr>
            </a:pPr>
            <a:r>
              <a:rPr sz="1100" b="0">
                <a:solidFill>
                  <a:srgbClr val="1E293B"/>
                </a:solidFill>
              </a:rPr>
              <a:t>Probability calibration (sigmoid)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606040"/>
            <a:ext cx="4023360" cy="1280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2606040"/>
            <a:ext cx="64008" cy="1280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2651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</a:defRPr>
            </a:pPr>
            <a:r>
              <a:rPr sz="1400" b="1">
                <a:solidFill>
                  <a:srgbClr val="22C55E"/>
                </a:solidFill>
              </a:rPr>
              <a:t>Feature Selection Results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292608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1E293B"/>
                </a:solidFill>
              </a:defRPr>
            </a:pPr>
            <a:r>
              <a:rPr sz="900" b="0">
                <a:solidFill>
                  <a:srgbClr val="1E293B"/>
                </a:solidFill>
              </a:rPr>
              <a:t>Kept: total_inflows, total_outflows, avg_balance, min_balance, balance_volatility, avg_received, spending_consistency, betting_ratio, utility_ratio, account_age</a:t>
            </a:r>
          </a:p>
          <a:p>
            <a:pPr>
              <a:spcBef>
                <a:spcPts val="600"/>
              </a:spcBef>
              <a:defRPr sz="1000" b="1">
                <a:solidFill>
                  <a:srgbClr val="0F172A"/>
                </a:solidFill>
              </a:defRPr>
            </a:pPr>
            <a:r>
              <a:rPr sz="1000" b="1">
                <a:solidFill>
                  <a:srgbClr val="0F172A"/>
                </a:solidFill>
              </a:rPr>
              <a:t>Dropped 12 features → simpler model, better generalization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54880" y="2606040"/>
            <a:ext cx="3931920" cy="12801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54880" y="2606040"/>
            <a:ext cx="64008" cy="1280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37760" y="26517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</a:defRPr>
            </a:pPr>
            <a:r>
              <a:rPr sz="1400" b="1">
                <a:solidFill>
                  <a:srgbClr val="F59E0B"/>
                </a:solidFill>
              </a:rPr>
              <a:t>Key Insight &amp; Future Work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60" y="292608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rPr sz="1000" b="1">
                <a:solidFill>
                  <a:srgbClr val="1E293B"/>
                </a:solidFill>
              </a:rPr>
              <a:t>Dataset size (61 borrowers, 16 defaults) remains the primary constraint on model performance.</a:t>
            </a:r>
          </a:p>
          <a:p>
            <a:pPr>
              <a:spcBef>
                <a:spcPts val="300"/>
              </a:spcBef>
              <a:defRPr sz="1000" b="0">
                <a:solidFill>
                  <a:srgbClr val="1E293B"/>
                </a:solidFill>
              </a:defRPr>
            </a:pPr>
            <a:r>
              <a:rPr sz="1000" b="0">
                <a:solidFill>
                  <a:srgbClr val="1E293B"/>
                </a:solidFill>
              </a:rPr>
              <a:t>More data: 1,000+ borrowers for robust validation</a:t>
            </a:r>
          </a:p>
          <a:p>
            <a:pPr>
              <a:spcBef>
                <a:spcPts val="300"/>
              </a:spcBef>
              <a:defRPr sz="1000" b="0">
                <a:solidFill>
                  <a:srgbClr val="1E293B"/>
                </a:solidFill>
              </a:defRPr>
            </a:pPr>
            <a:r>
              <a:rPr sz="1000" b="0">
                <a:solidFill>
                  <a:srgbClr val="1E293B"/>
                </a:solidFill>
              </a:rPr>
              <a:t>Temporal features: balance trends, seasonal patterns</a:t>
            </a:r>
          </a:p>
          <a:p>
            <a:pPr>
              <a:spcBef>
                <a:spcPts val="300"/>
              </a:spcBef>
              <a:defRPr sz="1000" b="0">
                <a:solidFill>
                  <a:srgbClr val="1E293B"/>
                </a:solidFill>
              </a:defRPr>
            </a:pPr>
            <a:r>
              <a:rPr sz="1000" b="0">
                <a:solidFill>
                  <a:srgbClr val="1E293B"/>
                </a:solidFill>
              </a:rPr>
              <a:t>External data: mobile usage, utility payments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rPr sz="1100" b="1">
                <a:solidFill>
                  <a:srgbClr val="0D9488"/>
                </a:solidFill>
              </a:rPr>
              <a:t>Best model: Random Forest (tuned) — AUC improved from 0.627 to 0.761 (+21.4%) with feature selection, hyperparameter tuning, and probability calibration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ANALYSIS: 999 RECORDS ACROSS 100 USERS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023360" cy="19202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960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Total Records &amp; Distinct Users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2801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COUNT(*) AS total_records,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COUNT(DISTINCT user_id) AS distinct_users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sql_extract;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94360" y="2331720"/>
            <a:ext cx="374904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580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999 records | 100 distinct users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4023360" cy="19202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892040" y="9601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Latest Record Per User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92040" y="128016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s.* FROM sql_extract 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user_id, MAX(ex_date) AS max_date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sql_extract GROUP BY user_id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latest ON s.user_id = latest.user_id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s.ex_date = latest.max_date;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92040" y="2331720"/>
            <a:ext cx="374904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983480" y="2331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Returns most recent record per user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023360" cy="19202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436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Top 5 Users by Record Count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user_id, COUNT(*) AS record_count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sql_extract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user_id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record_count DESC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5;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4360" y="4434840"/>
            <a:ext cx="374904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5800" y="4434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Returns 5 most active users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971800"/>
            <a:ext cx="4023360" cy="192024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92040" y="30632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Records Per Day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33832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DATE(ex_date) AS record_date,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COUNT(*) AS daily_count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sql_extract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DATE(ex_date)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5F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record_date;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92040" y="4434840"/>
            <a:ext cx="3749040" cy="3200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983480" y="4434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Daily activity breakdown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RESULTS: 4 QUERIES VALIDATED AGAINST EXTRACT</a:t>
            </a:r>
            <a:endParaRPr lang="en-US" sz="2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80467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846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Distinct Users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User (#1)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43 — 15 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User (#2)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87 — 14 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User (#3)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67 — 13 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User (#4)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7 — 12 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User (#5)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75 — 10 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Busiest 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2018-12-06 — 255 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Records/Day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~197 per day (3 active days)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51960"/>
            <a:ext cx="8046720" cy="64008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40080" y="4251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  Note: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SQL queries validated against sql_extract.xlsx (999 records, 100 users). Full SQL and Python/Pandas equivalent code attached.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STRATEGY: SCALING TO 1M+ TRANSACTIONS/DAY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1234440" cy="9144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20040" y="9601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M-Pesa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81912" y="11887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783080" y="914400"/>
            <a:ext cx="1234440" cy="91440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783080" y="9601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44952" y="11887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246120" y="914400"/>
            <a:ext cx="1234440" cy="91440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246120" y="9601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07992" y="11887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09160" y="914400"/>
            <a:ext cx="1234440" cy="914400"/>
          </a:xfrm>
          <a:prstGeom prst="rect">
            <a:avLst/>
          </a:prstGeom>
          <a:solidFill>
            <a:srgbClr val="0E749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709160" y="9601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71032" y="11887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172200" y="914400"/>
            <a:ext cx="1234440" cy="914400"/>
          </a:xfrm>
          <a:prstGeom prst="rect">
            <a:avLst/>
          </a:prstGeom>
          <a:solidFill>
            <a:srgbClr val="065A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172200" y="9601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34072" y="118872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9488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35240" y="914400"/>
            <a:ext cx="1234440" cy="914400"/>
          </a:xfrm>
          <a:prstGeom prst="rect">
            <a:avLst/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635240" y="9601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2194560"/>
            <a:ext cx="2697480" cy="265176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65760" y="2194560"/>
            <a:ext cx="269748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02920" y="2331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 &amp; Validation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" y="269748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Kafka for real-time M-Pesa statement streaming. Great Expectations for data quality. Pydantic schema validation. Dead-letter queues for malformed records.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3246120" y="2194560"/>
            <a:ext cx="2697480" cy="265176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3246120" y="2194560"/>
            <a:ext cx="2697480" cy="54864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383280" y="2331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&amp; Feature Eng.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269748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for distributed processing of 200K+ statements. Pre-computed feature store (Redis/DynamoDB) for &lt;100ms lookups. Dask for medium-scale parallel processing.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2194560"/>
            <a:ext cx="2697480" cy="265176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126480" y="2194560"/>
            <a:ext cx="2697480" cy="54864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263640" y="2331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Deployment &amp; Serving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269748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microservice with ONNX Runtime. Horizontal auto-scaling on K8s. A/B testing framework for model versions. Target: &lt;200ms per risk score.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2286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05840" y="256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PATASCORE: CREDIT INCLUSION VIA ALTERNATIVE DATA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206240" cy="3931920"/>
          </a:xfrm>
          <a:prstGeom prst="rect">
            <a:avLst/>
          </a:prstGeom>
          <a:solidFill>
            <a:srgbClr val="F0FDF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57200" y="868680"/>
            <a:ext cx="64008" cy="39319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914400"/>
            <a:ext cx="37490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D9488"/>
                </a:solidFill>
              </a:rPr>
              <a:t>Alternative Data &amp; Credit Inclusion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</a:rPr>
              <a:t>M-Pesa Transaction Scoring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Use cash flow consistency, deposit frequency, and spending discipline as credit proxies for the unbanked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</a:rPr>
              <a:t>Social Network Analysis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Map P2P transfer networks to identify community standing and social collateral indicators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</a:rPr>
              <a:t>Behavioral Risk Signals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Gambling frequency, late-night transactions, and overdraft patterns as negative credit indicators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</a:rPr>
              <a:t>Business Cycle Detection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Identify seasonal income patterns for MSMEs to optimize loan timing and amount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937760" y="868680"/>
            <a:ext cx="374904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937760" y="868680"/>
            <a:ext cx="64008" cy="3931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212080" y="914400"/>
            <a:ext cx="32918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59E0B"/>
                </a:solidFill>
              </a:rPr>
              <a:t>High-Impact Data Products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</a:rPr>
              <a:t>1. PataScore Dashboard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Real-time credit score with explainable AI breakdown for lenders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</a:rPr>
              <a:t>2. Portfolio Risk Heatmap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Geographic and demographic risk visualization for lending partners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</a:rPr>
              <a:t>3. Cash Flow Forecasting API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Predict borrower capacity to repay based on historical M-Pesa patterns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F172A"/>
                </a:solidFill>
              </a:rPr>
              <a:t>4. Early Warning System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1E293B"/>
                </a:solidFill>
              </a:rPr>
              <a:t>Proactive alerts when borrower behavior shifts toward default risk signals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0D9488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6858000" y="457200"/>
            <a:ext cx="3200400" cy="3200400"/>
          </a:xfrm>
          <a:prstGeom prst="ellipse">
            <a:avLst/>
          </a:prstGeom>
          <a:solidFill>
            <a:srgbClr val="0D9488">
              <a:alpha val="10000"/>
            </a:srgbClr>
          </a:solidFill>
          <a:ln w="1905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498080" y="1097280"/>
            <a:ext cx="2286000" cy="2286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5EEAD4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13716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CreditPulse — Data-Driven Lending Intelligence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92608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</a:rPr>
              <a:t>Source code, analysis notebooks, and SQL scripts attached separately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4748B"/>
                </a:solidFill>
              </a:rPr>
              <a:t>Built with Python, scikit-learn, Pandas, and PptxGenJS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hello@pezesha.com  |  pezesha.com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CreditPulse - M-Pesa Credit Risk Intelligence</dc:title>
  <dc:subject>PptxGenJS Presentation</dc:subject>
  <dc:creator>CreditPulse Analytics</dc:creator>
  <cp:lastModifiedBy>CreditPulse Analytics</cp:lastModifiedBy>
  <cp:revision>1</cp:revision>
  <dcterms:created xsi:type="dcterms:W3CDTF">2026-02-22T13:41:42Z</dcterms:created>
  <dcterms:modified xsi:type="dcterms:W3CDTF">2026-02-22T13:41:42Z</dcterms:modified>
</cp:coreProperties>
</file>